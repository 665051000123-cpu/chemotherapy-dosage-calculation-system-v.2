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223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5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393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32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863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634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10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139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624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08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6314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5757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01970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09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262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78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419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5.png"/><Relationship Id="rId5" Type="http://schemas.openxmlformats.org/officeDocument/2006/relationships/image" Target="../media/image8.png"/><Relationship Id="rId10" Type="http://schemas.openxmlformats.org/officeDocument/2006/relationships/image" Target="../media/image24.png"/><Relationship Id="rId4" Type="http://schemas.openxmlformats.org/officeDocument/2006/relationships/image" Target="../media/image7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57200"/>
            <a:ext cx="11125200" cy="5943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75434" y="2180332"/>
            <a:ext cx="9041130" cy="12054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7"/>
              </a:lnSpc>
            </a:pPr>
            <a:r>
              <a:rPr sz="3750" b="1" i="0" u="none">
                <a:solidFill>
                  <a:srgbClr val="0F172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โครงการพัฒนาระบบคำนวณและตรวจสอบ</a:t>
            </a:r>
            <a:r>
              <a:rPr>
                <a:latin typeface="TH SarabunPSK" panose="020B0500040200020003" pitchFamily="34" charset="-34"/>
                <a:cs typeface="TH SarabunPSK" panose="020B0500040200020003" pitchFamily="34" charset="-34"/>
              </a:rPr>
              <a:t>
</a:t>
            </a:r>
            <a:r>
              <a:rPr sz="3750" b="1" i="0" u="none">
                <a:solidFill>
                  <a:srgbClr val="0F172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ขนาดยาเคมีบำบัด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875" y="3771007"/>
            <a:ext cx="8514282" cy="3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00" b="0" i="0" u="none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Chemotherapy Dosage Calculation and Management System (CPOE &amp; Clinical Decision Support)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2484" y="5102896"/>
            <a:ext cx="350920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เพื่อความปลอดภัยสูงสุดของผู้ป่วย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(Patient Safety)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7875" y="5094089"/>
            <a:ext cx="353378" cy="27655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2709" y="5048143"/>
            <a:ext cx="353378" cy="2765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1F3DD26-2426-38C2-945D-6D3F6B424185}"/>
              </a:ext>
            </a:extLst>
          </p:cNvPr>
          <p:cNvSpPr txBox="1"/>
          <p:nvPr/>
        </p:nvSpPr>
        <p:spPr>
          <a:xfrm>
            <a:off x="2150315" y="5140034"/>
            <a:ext cx="314410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ระบบบริการสุขภาพดิจิทัล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(Digital Healthcare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5795" y="549489"/>
            <a:ext cx="2847213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 dirty="0" err="1">
                <a:solidFill>
                  <a:srgbClr val="0F172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ความเป็นมาและความสำคัญ</a:t>
            </a:r>
            <a:endParaRPr sz="2700" b="1" i="0" u="none" dirty="0">
              <a:solidFill>
                <a:srgbClr val="0F172A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95300" y="604838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3400" y="1139041"/>
            <a:ext cx="5372100" cy="589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600" b="1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ยาเคมีบำบัด</a:t>
            </a:r>
            <a:r>
              <a:rPr sz="1600" b="1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(Chemotherapy)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จัดเป็นยาที่มีความเสี่ยงสูง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(High-alert Medications)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และมีช่วงการรักษาแคบ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(Narrow Therapeutic Index)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903000"/>
            <a:ext cx="5372100" cy="589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ความคลาดเคลื่อนเพียงเล็กน้อย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อาจทำให้เกิด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1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Underdose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การรักษาไม่ได้ผล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/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เซลล์มะเร็งดื้อยา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)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หรือ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1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Overdose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ภาวะกดไขกระดูกรุนแรง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เกิดพิษต่ออวัยวะ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และอันตรายถึงชีวิต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666959"/>
            <a:ext cx="5372100" cy="589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ระบบเดิมอาศัยกระดาษและการคำนวณด้วยมือ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(Manual Calculation)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ซึ่งมีความซับซ้อน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ใช้เวลานาน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และเสี่ยงต่อข้อผิดพลาดจากปัจจัยมนุษย์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(Human Error)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334666"/>
            <a:ext cx="3555950" cy="29697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475" y="2381248"/>
            <a:ext cx="3555950" cy="29697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2334666"/>
            <a:ext cx="3555950" cy="29697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8400" y="2648991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6206" y="3525291"/>
            <a:ext cx="151018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 dirty="0" err="1">
                <a:solidFill>
                  <a:srgbClr val="0F172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คำนวณอัตโนมัติ</a:t>
            </a:r>
            <a:endParaRPr b="1" i="0" u="none" dirty="0">
              <a:solidFill>
                <a:srgbClr val="0F172A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1525" y="4106316"/>
            <a:ext cx="307970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600" b="0" i="0" u="none" dirty="0" err="1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คำนวณพื้นที่ผิวร่างกาย</a:t>
            </a:r>
            <a:r>
              <a:rPr sz="1600" b="0" i="0" u="none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(BSA) </a:t>
            </a:r>
            <a:r>
              <a:rPr sz="1600" b="0" i="0" u="none" dirty="0" err="1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ขนาดยา</a:t>
            </a:r>
            <a:r>
              <a:rPr sz="1600" b="0" i="0" u="none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ปริมาตร</a:t>
            </a:r>
            <a:r>
              <a:rPr sz="1600" b="0" i="0" u="none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และจำนวนบรรจุภัณฑ์</a:t>
            </a:r>
            <a:r>
              <a:rPr sz="1600" b="0" i="0" u="none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(Vial Size) </a:t>
            </a:r>
            <a:r>
              <a:rPr sz="1600" b="0" i="0" u="none" dirty="0" err="1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ได้อย่างแม่นยำและรวดเร็ว</a:t>
            </a:r>
            <a:endParaRPr sz="1600" b="0" i="0" u="none" dirty="0">
              <a:solidFill>
                <a:srgbClr val="475569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2951" y="2648991"/>
            <a:ext cx="685800" cy="685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70710" y="3525291"/>
            <a:ext cx="225028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>
                <a:solidFill>
                  <a:srgbClr val="0F172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แจ้งเตือนความปลอดภัย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6075" y="4106316"/>
            <a:ext cx="307970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600" b="0" i="0" u="none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ยกระดับ Patient Safety ผ่านระบบ Clinical Alerts เช่น ยาสะสมเกินเกณฑ์ ผลเลือดผิดปกติ และยาห้ามผสมร่วม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7501" y="2648991"/>
            <a:ext cx="685800" cy="685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80289" y="3525291"/>
            <a:ext cx="180022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>
                <a:solidFill>
                  <a:srgbClr val="0F172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เชื่อมโยงสหวิชาชีพ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0625" y="4106316"/>
            <a:ext cx="3079700" cy="7316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600" b="0" i="0" u="none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ปรับกระบวนการสู่ระบบดิจิทัลแบบรวมศูนย์ (Paperless) แบ่งสิทธิ์การทำงาน และพิมพ์ฉลากยา (Sticker Label) แบบเรียลไทม์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7000" y="2839491"/>
            <a:ext cx="2286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451" y="2839491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89901" y="2839491"/>
            <a:ext cx="3810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6747" y="703811"/>
            <a:ext cx="289684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วัตถุประสงค์ของโครงการ</a:t>
            </a:r>
            <a:endParaRPr sz="2700" b="1" i="0" u="none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95300" y="75916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945034"/>
            <a:ext cx="5391150" cy="374883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945034"/>
            <a:ext cx="5391150" cy="37488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7725" y="2259359"/>
            <a:ext cx="5000625" cy="276999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0284C7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ขอบเขตด้านผู้ใช้งาน (User Scope)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2773709"/>
            <a:ext cx="4762500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• </a:t>
            </a:r>
            <a:r>
              <a:rPr sz="1600" b="1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แพทย์</a:t>
            </a:r>
            <a:r>
              <a:rPr sz="1600" b="1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(Doctor):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สืบค้นผู้ป่วย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บันทึกค่าน้ำหนัก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ส่วนสูง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ผล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Lab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สั่งยาเคมีบำบัด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และดูประวัติการรักษา</a:t>
            </a:r>
            <a:endParaRPr sz="1600" b="0" i="0" u="none" dirty="0">
              <a:solidFill>
                <a:srgbClr val="3341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7725" y="3493740"/>
            <a:ext cx="4762500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 i="0" u="none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• เภสัชกร (Pharmacist):</a:t>
            </a:r>
            <a:r>
              <a:rPr sz="1600" b="0" i="0" u="none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ตรวจสอบ/ยืนยันคำสั่งยา จัดการ Drug Master ปรับขนาดบรรจุภัณฑ์ และพิมพ์ฉลากสติ๊กเกอร์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4213770"/>
            <a:ext cx="4762500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 i="0" u="none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• ผู้ดูแลระบบ (Admin):</a:t>
            </a:r>
            <a:r>
              <a:rPr sz="1600" b="0" i="0" u="none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จัดการบัญชีผู้ใช้ กำหนดสิทธิ์การเข้าถึง และสืบค้น Log การใช้งานระบบ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2259359"/>
            <a:ext cx="5000625" cy="276999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0284C7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ขอบเขตด้านระบบ (Functional Scope)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2773709"/>
            <a:ext cx="4762500" cy="282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 i="0" u="none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• Web Application:</a:t>
            </a:r>
            <a:r>
              <a:rPr sz="1600" b="0" i="0" u="none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พัฒนาในรูปแบบ Single Page Application (SPA)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3153741"/>
            <a:ext cx="4762500" cy="282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• Evaluation Engine: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คำนวณ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BSA, Target Dose, Volume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Vial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อัตโนมัติ</a:t>
            </a:r>
            <a:endParaRPr sz="1600" b="0" i="0" u="none" dirty="0">
              <a:solidFill>
                <a:srgbClr val="3341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1775" y="3537320"/>
            <a:ext cx="4762500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• Clinical Decision Support: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ตรวจสอบผลเลือด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(ANC/Platelets)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ยาสะสม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Incompatibility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4203027"/>
            <a:ext cx="4762500" cy="282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• Sticker Labeling: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พิมพ์ฉลากสติ๊กเกอร์ติดถุงน้ำเกลือพร้อมคำเตือน</a:t>
            </a:r>
            <a:endParaRPr sz="1600" b="0" i="0" u="none" dirty="0">
              <a:solidFill>
                <a:srgbClr val="3341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306984"/>
            <a:ext cx="28575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2306984"/>
            <a:ext cx="28575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2475" y="567142"/>
            <a:ext cx="1165860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 dirty="0" err="1">
                <a:solidFill>
                  <a:srgbClr val="0F172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ขอบเขตของโครงการ</a:t>
            </a:r>
            <a:r>
              <a:rPr sz="2700" b="1" i="0" u="none" dirty="0">
                <a:solidFill>
                  <a:srgbClr val="0F172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(Scope)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628499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C7496-6617-4AA3-4771-9C93C33C7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8B7B7F35-A767-9D67-3543-D9254B2E7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0584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D402972F-B9B7-0D04-82E8-BB06FECB5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504" y="1561798"/>
            <a:ext cx="10222992" cy="458972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D33F44F-3855-9792-9FA9-1DF6CCC96D7D}"/>
              </a:ext>
            </a:extLst>
          </p:cNvPr>
          <p:cNvSpPr txBox="1"/>
          <p:nvPr/>
        </p:nvSpPr>
        <p:spPr>
          <a:xfrm>
            <a:off x="688467" y="573150"/>
            <a:ext cx="3520821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th-TH" sz="2700" b="1" dirty="0">
                <a:solidFill>
                  <a:srgbClr val="0F172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คณะผู้จัดทำ</a:t>
            </a:r>
            <a:endParaRPr sz="2700" b="1" i="0" u="none" dirty="0">
              <a:solidFill>
                <a:srgbClr val="0F172A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0D23916-8517-41C7-7E14-D638424762C5}"/>
              </a:ext>
            </a:extLst>
          </p:cNvPr>
          <p:cNvSpPr/>
          <p:nvPr/>
        </p:nvSpPr>
        <p:spPr>
          <a:xfrm>
            <a:off x="533400" y="628499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1D6AC5-619D-13A6-DBCB-51C92F1DBA95}"/>
              </a:ext>
            </a:extLst>
          </p:cNvPr>
          <p:cNvSpPr txBox="1"/>
          <p:nvPr/>
        </p:nvSpPr>
        <p:spPr>
          <a:xfrm>
            <a:off x="1672304" y="2433778"/>
            <a:ext cx="6591491" cy="38318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มหาวิทยาลัยเทคโนโลยีราชมงคลกรุงเทพ โดย 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150000"/>
              </a:lnSpc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นาย </a:t>
            </a:r>
            <a:r>
              <a:rPr lang="th-TH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พิ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รัชชัย คนทน 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150000"/>
              </a:lnSpc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นาย ศุภณ</a:t>
            </a:r>
            <a:r>
              <a:rPr lang="th-TH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ัฏฐ์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นิ่มอนงค์</a:t>
            </a:r>
          </a:p>
          <a:p>
            <a:pPr>
              <a:lnSpc>
                <a:spcPct val="150000"/>
              </a:lnSpc>
            </a:pPr>
            <a:r>
              <a:rPr lang="th-TH" sz="2400" dirty="0">
                <a:solidFill>
                  <a:srgbClr val="0F172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นาย พันธมิตร อย่าห้าม เจ้าหน้าที่แผนกคอมพิวเตอร์โรงพยาบาลรามคำแหง 2</a:t>
            </a:r>
          </a:p>
          <a:p>
            <a:pPr>
              <a:lnSpc>
                <a:spcPct val="150000"/>
              </a:lnSpc>
            </a:pPr>
            <a:r>
              <a:rPr lang="th-TH" sz="2400" dirty="0">
                <a:solidFill>
                  <a:srgbClr val="0F172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นางสาว ปารมี ภู่ขาว    หัวหน้าแผนกเภสัชกรรมโรงพยาบาลรามคำแหง 2</a:t>
            </a:r>
          </a:p>
          <a:p>
            <a:pPr>
              <a:lnSpc>
                <a:spcPct val="150000"/>
              </a:lnSpc>
            </a:pPr>
            <a:endParaRPr lang="th-TH" sz="2400" dirty="0">
              <a:solidFill>
                <a:srgbClr val="0F172A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15237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201292"/>
            <a:ext cx="3691830" cy="600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638872"/>
            <a:ext cx="5943600" cy="39904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585591"/>
            <a:ext cx="5391150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1. </a:t>
            </a:r>
            <a:r>
              <a:rPr sz="1600" b="1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การคำนวณพื้นที่ผิวร่างกาย</a:t>
            </a:r>
            <a:r>
              <a:rPr sz="1600" b="1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(BSA)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
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ใช้สูตร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Mosteller (1987)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เป็นมาตรฐานในการคำนวณอัตโนมัติ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803749"/>
            <a:ext cx="5391150" cy="282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 i="0" u="none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2. เกณฑ์การประเมินความปลอดภัยทางคลินิก: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3305621"/>
            <a:ext cx="3291780" cy="3266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1987" y="4149904"/>
            <a:ext cx="11906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334155"/>
                </a:solidFill>
                <a:latin typeface="Sarabun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1518" y="4106039"/>
            <a:ext cx="5067300" cy="282129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Cumulative Dose Limit: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ป้องกันพิษต่อกล้ามเนื้อหัวใจ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(Cardiotoxicity)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987" y="4371138"/>
            <a:ext cx="20955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334155"/>
                </a:solidFill>
                <a:latin typeface="Sarabun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4333947"/>
            <a:ext cx="5200650" cy="282129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Lab Criteria: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เตือนให้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Hold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ยาหาก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ANC &lt; 1,500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หรือ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Platelets &lt; 100,000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6432" y="1638872"/>
            <a:ext cx="5922168" cy="39691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3900" y="633056"/>
            <a:ext cx="1165860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 dirty="0" err="1">
                <a:solidFill>
                  <a:srgbClr val="0F172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หลักการคำนวณและเกณฑ์ความปลอดภัย</a:t>
            </a:r>
            <a:endParaRPr sz="2700" b="1" i="0" u="none" dirty="0">
              <a:solidFill>
                <a:srgbClr val="0F172A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33400" y="68840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334666"/>
            <a:ext cx="3555950" cy="29697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334666"/>
            <a:ext cx="3555950" cy="29697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2334666"/>
            <a:ext cx="3555950" cy="29697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8400" y="2648991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76208" y="3525291"/>
            <a:ext cx="147018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rgbClr val="0F172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React.js +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4106316"/>
            <a:ext cx="3079700" cy="7316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600" b="0" i="0" u="none" dirty="0" err="1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ส่วนติดต่อผู้ใช้แบบ</a:t>
            </a:r>
            <a:r>
              <a:rPr sz="1600" b="0" i="0" u="none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Component-Based </a:t>
            </a:r>
            <a:r>
              <a:rPr sz="1600" b="0" i="0" u="none" dirty="0" err="1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ประมวลผลคำนวณฝั่ง</a:t>
            </a:r>
            <a:r>
              <a:rPr sz="1600" b="0" i="0" u="none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Client </a:t>
            </a:r>
            <a:r>
              <a:rPr sz="1600" b="0" i="0" u="none" dirty="0" err="1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รวดเร็ว</a:t>
            </a:r>
            <a:r>
              <a:rPr sz="1600" b="0" i="0" u="none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ตอบสนองทันทีแบบ</a:t>
            </a:r>
            <a:r>
              <a:rPr sz="1600" b="0" i="0" u="none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Single Page Application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2951" y="2648991"/>
            <a:ext cx="685800" cy="685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15766" y="3525291"/>
            <a:ext cx="136017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>
                <a:solidFill>
                  <a:srgbClr val="0F172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Tailwind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6075" y="4106316"/>
            <a:ext cx="3079700" cy="7316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600" b="0" i="0" u="none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Utility-First CSS Framework สร้าง UI ทันสมัย รองรับ Responsive ทุกขนาดหน้าจอ พร้อม Light/Dark Mode และ Print Styles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7501" y="2648991"/>
            <a:ext cx="685800" cy="685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65287" y="3525291"/>
            <a:ext cx="18302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>
                <a:solidFill>
                  <a:srgbClr val="0F172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Node.js &amp; 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0625" y="4106316"/>
            <a:ext cx="3079700" cy="7316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600" b="0" i="0" u="none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RESTful API ร่วมกับ Sequelize ORM จัดเก็บข้อมูลผู้ป่วย ยา และประวัติการสั่งยาอย่างเป็นระบบ ปลอดภัย และย้อนกลับได้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8900" y="2839491"/>
            <a:ext cx="3048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451" y="2839491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28001" y="2839491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7517" y="702409"/>
            <a:ext cx="1165860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 dirty="0" err="1">
                <a:solidFill>
                  <a:srgbClr val="0F172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เทคโนโลยีที่ใช้ในการพัฒนา</a:t>
            </a:r>
            <a:r>
              <a:rPr sz="2700" b="1" i="0" u="none" dirty="0">
                <a:solidFill>
                  <a:srgbClr val="0F172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(Tech Stack)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3400" y="757758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105275"/>
            <a:ext cx="2558653" cy="1219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8816" y="2314575"/>
            <a:ext cx="2558653" cy="1219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232" y="4105275"/>
            <a:ext cx="2558653" cy="1219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9649" y="2314575"/>
            <a:ext cx="2558653" cy="121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3400" y="3800475"/>
            <a:ext cx="111252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9459" y="4305300"/>
            <a:ext cx="226653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>
                <a:solidFill>
                  <a:srgbClr val="0284C7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1. Patient Check-in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667250"/>
            <a:ext cx="2158603" cy="465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600" b="0" i="0" u="none" dirty="0" err="1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สืบค้น</a:t>
            </a:r>
            <a:r>
              <a:rPr sz="1600" b="0" i="0" u="none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HN </a:t>
            </a:r>
            <a:r>
              <a:rPr sz="1600" b="0" i="0" u="none" dirty="0" err="1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และยืนยันข้อมูลพื้นฐานผู้ป่วย</a:t>
            </a:r>
            <a:endParaRPr sz="1600" b="0" i="0" u="none" dirty="0">
              <a:solidFill>
                <a:srgbClr val="475569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34876" y="2514600"/>
            <a:ext cx="226653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>
                <a:solidFill>
                  <a:srgbClr val="0284C7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2. Vitals &amp;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8841" y="2876550"/>
            <a:ext cx="2158603" cy="465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600" b="0" i="0" u="none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กรอกค่าน้ำหนัก ส่วนสูง ผลเลือด (ANC / Platelets)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0292" y="4305300"/>
            <a:ext cx="226653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>
                <a:solidFill>
                  <a:srgbClr val="0284C7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3. Safety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4257" y="4667250"/>
            <a:ext cx="2158603" cy="465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600" b="0" i="0" u="none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ระบบคำนวณ BSA/Dose และประเมิน Safety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45709" y="2514600"/>
            <a:ext cx="226653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>
                <a:solidFill>
                  <a:srgbClr val="0284C7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4. Sticker &amp; 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9674" y="2876550"/>
            <a:ext cx="2158603" cy="465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600" b="0" i="0" u="none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ยืนยันคำสั่งยา บันทึกประวัติ และพิมพ์ฉลากสติ๊กเกอร์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" y="573301"/>
            <a:ext cx="1165860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 dirty="0" err="1">
                <a:solidFill>
                  <a:srgbClr val="0F172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กระบวนการทำงานของระบบ</a:t>
            </a:r>
            <a:r>
              <a:rPr sz="2700" b="1" i="0" u="none" dirty="0">
                <a:solidFill>
                  <a:srgbClr val="0F172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(Workflow)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62865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698426" y="37052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53842" y="37052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09259" y="37052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64675" y="37052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01"/>
            <a:ext cx="12170664" cy="6846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95575"/>
            <a:ext cx="5391150" cy="2247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076575"/>
            <a:ext cx="46291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sz="8250" b="1" i="0" u="none">
                <a:solidFill>
                  <a:srgbClr val="FFFFFF"/>
                </a:solidFill>
                <a:latin typeface="Prompt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19575"/>
            <a:ext cx="46291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E0F2FE"/>
                </a:solidFill>
                <a:latin typeface="Prompt Medium"/>
              </a:rPr>
              <a:t>Automated Safety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7450" y="2520404"/>
            <a:ext cx="454632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 err="1">
                <a:solidFill>
                  <a:srgbClr val="0F172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ระบบผู้ช่วยตัดสินใจทางคลินิก</a:t>
            </a:r>
            <a:r>
              <a:rPr b="1" i="0" u="none" dirty="0">
                <a:solidFill>
                  <a:srgbClr val="0F172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(CDS)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7450" y="2958554"/>
            <a:ext cx="4329833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• Drug Incompatibility Warning: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แจ้งเตือนทันทีเมื่อเลือกตัวทำละลาย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(Diluent)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ที่ไม่เข้ากันกับตัวยา</a:t>
            </a:r>
            <a:endParaRPr sz="1600" b="0" i="0" u="none" dirty="0">
              <a:solidFill>
                <a:srgbClr val="3341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67450" y="3678584"/>
            <a:ext cx="4329833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 i="0" u="none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• Dose Deviation Alert (% Diff):</a:t>
            </a:r>
            <a:r>
              <a:rPr sz="1600" b="0" i="0" u="none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ตรวจสอบส่วนต่างระหว่างขนาดยาคำนวณเป๊ะๆ กับขนาดยาที่แพทย์สั่งจ่าย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7450" y="4398615"/>
            <a:ext cx="4329833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 i="0" u="none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• Cumulative Dose Tracker:</a:t>
            </a:r>
            <a:r>
              <a:rPr sz="1600" b="0" i="0" u="none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คำนวณขนาดยาสะสมรวมอดีต+ปัจจุบัน ป้องกันความเป็นพิษระยะยาว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328" y="546439"/>
            <a:ext cx="9363456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 dirty="0" err="1">
                <a:solidFill>
                  <a:srgbClr val="0F172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ยกระดับความปลอดภัยทางยา</a:t>
            </a:r>
            <a:endParaRPr sz="2700" b="1" i="0" u="none" dirty="0">
              <a:solidFill>
                <a:srgbClr val="0F172A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33400" y="593452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051560"/>
            <a:ext cx="5391150" cy="46725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2585293"/>
            <a:ext cx="5391150" cy="282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การออกแบบ</a:t>
            </a:r>
            <a:r>
              <a:rPr b="1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UI </a:t>
            </a:r>
            <a:r>
              <a:rPr b="1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ตามหลัก</a:t>
            </a:r>
            <a:r>
              <a:rPr b="1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Ergonomics &amp; UX: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7300" y="3031033"/>
            <a:ext cx="4667250" cy="589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600" b="1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Color-Coded Status: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ใช้แถบสีสื่อสารสถานะ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แดง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=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อันตราย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,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เหลือง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=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คำเตือน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,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เขียว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=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ผ่าน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)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ช่วยกวาดสายตาได้รวดเร็ว</a:t>
            </a:r>
            <a:endParaRPr sz="1600" b="0" i="0" u="none" dirty="0">
              <a:solidFill>
                <a:srgbClr val="3341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57300" y="3762375"/>
            <a:ext cx="4667250" cy="589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600" b="1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Print Media Query: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ออกแบบ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CSS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เฉพาะโหมดการพิมพ์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ให้ขนาดสติ๊กเกอร์พอดีกับซอง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/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ถุงน้ำเกลือ</a:t>
            </a:r>
            <a:endParaRPr sz="1600" b="0" i="0" u="none" dirty="0">
              <a:solidFill>
                <a:srgbClr val="3341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7300" y="4493716"/>
            <a:ext cx="4667250" cy="589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600" b="1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Complete Sticker Label: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แสดงชื่อผู้ป่วย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ยา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ปริมาตร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อัตราเร็ว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และข้อควรระวังชัดเจน</a:t>
            </a:r>
            <a:endParaRPr sz="1600" b="0" i="0" u="none" dirty="0">
              <a:solidFill>
                <a:srgbClr val="3341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045321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76662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508003"/>
            <a:ext cx="190500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7992" y="518905"/>
            <a:ext cx="1165860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 dirty="0" err="1">
                <a:solidFill>
                  <a:srgbClr val="0F172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ส่วนติดต่อผู้ใช้งาน</a:t>
            </a:r>
            <a:r>
              <a:rPr sz="2700" b="1" i="0" u="none" dirty="0">
                <a:solidFill>
                  <a:srgbClr val="0F172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(User Interface)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300" y="574254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8439649-C8EE-8E10-4062-E89057880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5643" y="1201047"/>
            <a:ext cx="5294764" cy="43215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28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2040" y="1497059"/>
            <a:ext cx="10668000" cy="2949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600" b="1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ความแม่นยำและความรวดเร็ว</a:t>
            </a:r>
            <a:r>
              <a:rPr sz="1600" b="1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คำนวณ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BSA, Target Dose, Volume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Vial Size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ได้อัตโนมัติ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ลดเวลาและขจัดข้อผิดพลาดจากการคำนวณด้วยมือ</a:t>
            </a:r>
            <a:endParaRPr sz="1600" b="0" i="0" u="none" dirty="0">
              <a:solidFill>
                <a:srgbClr val="3341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2040" y="2096815"/>
            <a:ext cx="10668000" cy="2949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600" b="1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ความปลอดภัยของผู้ป่วย</a:t>
            </a:r>
            <a:r>
              <a:rPr sz="1600" b="1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(Patient Safety):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กลไก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CDS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ทำงานเรียลไทม์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แจ้งเตือนเมื่อผลเลือดต่ำ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ขนาดยาสะสมเกิน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หรือใช้ตัวทำละลายผิดประเภท</a:t>
            </a:r>
            <a:endParaRPr sz="1600" b="0" i="0" u="none" dirty="0">
              <a:solidFill>
                <a:srgbClr val="3341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2040" y="2696571"/>
            <a:ext cx="10668000" cy="2949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600" b="1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การจัดการข้อมูลแบบ</a:t>
            </a:r>
            <a:r>
              <a:rPr sz="1600" b="1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Paperless: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จัดเก็บประวัติการสั่งยาแบบ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Centralized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สืบค้นย้อนหลังได้ง่าย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สนับสนุนนโยบาย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Smart Hospital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" y="3296327"/>
            <a:ext cx="10668000" cy="2949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600" b="1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ประสิทธิผลสหวิชาชีพ</a:t>
            </a:r>
            <a:r>
              <a:rPr sz="1600" b="1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สื่อสารระหว่างแพทย์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เภสัชกร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และพยาบาลได้ราบรื่นผ่านสิทธิ์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RBAC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และฉลากสติ๊กเกอร์มาตรฐาน</a:t>
            </a:r>
            <a:endParaRPr sz="1600" b="0" i="0" u="none" dirty="0">
              <a:solidFill>
                <a:srgbClr val="3341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410075"/>
            <a:ext cx="381000" cy="4689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1050" y="576818"/>
            <a:ext cx="1165860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 dirty="0" err="1">
                <a:solidFill>
                  <a:srgbClr val="0F172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สรุปผลการดำเนินงาน</a:t>
            </a:r>
            <a:endParaRPr sz="2700" b="1" i="0" u="none" dirty="0">
              <a:solidFill>
                <a:srgbClr val="0F172A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33400" y="653504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362912A3-50C9-93FD-6A46-31689B288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31398"/>
            <a:ext cx="381000" cy="468923"/>
          </a:xfrm>
          <a:prstGeom prst="rect">
            <a:avLst/>
          </a:prstGeom>
        </p:spPr>
      </p:pic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887C3056-AFCF-310A-4CD6-7C799D255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75884"/>
            <a:ext cx="381000" cy="468923"/>
          </a:xfrm>
          <a:prstGeom prst="rect">
            <a:avLst/>
          </a:prstGeom>
        </p:spPr>
      </p:pic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383682BA-DE74-543A-412C-4D837F52D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244271"/>
            <a:ext cx="381000" cy="4689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167979"/>
            <a:ext cx="5391150" cy="33030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167979"/>
            <a:ext cx="5391150" cy="33030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519730"/>
            <a:ext cx="5000625" cy="276999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rPr b="1" i="0" u="none" dirty="0" err="1">
                <a:solidFill>
                  <a:srgbClr val="0284C7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ข้อจำกัดในปัจจุบัน</a:t>
            </a:r>
            <a:endParaRPr b="1" i="0" u="none" dirty="0">
              <a:solidFill>
                <a:srgbClr val="0284C7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7725" y="2996654"/>
            <a:ext cx="4762500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1. Stand-alone System: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ปัจจุบันยังไม่ได้รับการเชื่อมต่อ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API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เข้ากับระบบ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Hospital Information System (HIS)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หลักของโรงพยาบาล</a:t>
            </a:r>
            <a:endParaRPr sz="1600" b="0" i="0" u="none" dirty="0">
              <a:solidFill>
                <a:srgbClr val="3341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7725" y="3716684"/>
            <a:ext cx="4762500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2. Inventory Bounds: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เน้นการคำนวณขนาดยาและความปลอดภัยเป็นหลัก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ยังไม่ครอบคลุมระบบตัดสต๊อกคลังยาทางการเงิน</a:t>
            </a:r>
            <a:endParaRPr sz="1600" b="0" i="0" u="none" dirty="0">
              <a:solidFill>
                <a:srgbClr val="3341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96075" y="2491156"/>
            <a:ext cx="5000625" cy="276999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rPr b="1" i="0" u="none" dirty="0" err="1">
                <a:solidFill>
                  <a:srgbClr val="0284C7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แนวทางการพัฒนาต่อยอด</a:t>
            </a:r>
            <a:endParaRPr b="1" i="0" u="none" dirty="0">
              <a:solidFill>
                <a:srgbClr val="0284C7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1775" y="2996654"/>
            <a:ext cx="4762500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 i="0" u="none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1. HIS API Integration:</a:t>
            </a:r>
            <a:r>
              <a:rPr sz="1600" b="0" i="0" u="none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ดึงข้อมูลสัญญาณชีพและผล Lab จาก HIS โดยตรง ลดการคีย์ข้อมูลซ้ำซ้อน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716684"/>
            <a:ext cx="4762500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2. Bedside Barcode / QR Code: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พิมพ์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QR Code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บนฉลากยา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ให้พยาบาลสแกนตรวจสอบก่อนบริหารยาให้ผู้ป่วย</a:t>
            </a:r>
            <a:endParaRPr sz="1600" b="0" i="0" u="none" dirty="0">
              <a:solidFill>
                <a:srgbClr val="3341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1775" y="4436715"/>
            <a:ext cx="4762500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3. Advanced Reporting: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พัฒนาระบบ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Dashboard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วิเคราะห์สถิติการใช้ยา</a:t>
            </a:r>
            <a:r>
              <a:rPr sz="1600" b="0" i="0" u="none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เพื่อวางแผนจัดซื้อและบริหารงบประมาณ</a:t>
            </a:r>
            <a:endParaRPr sz="1600" b="0" i="0" u="none" dirty="0">
              <a:solidFill>
                <a:srgbClr val="3341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529929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2529929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9323" y="663044"/>
            <a:ext cx="1165860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 dirty="0" err="1">
                <a:solidFill>
                  <a:srgbClr val="0F172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ข้อจำกัดและการพัฒนาต่อยอด</a:t>
            </a:r>
            <a:endParaRPr sz="2700" b="1" i="0" u="none" dirty="0">
              <a:solidFill>
                <a:srgbClr val="0F172A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33400" y="718393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4698</TotalTime>
  <Words>996</Words>
  <Application>Microsoft Office PowerPoint</Application>
  <PresentationFormat>Widescreen</PresentationFormat>
  <Paragraphs>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Century Gothic</vt:lpstr>
      <vt:lpstr>Prompt</vt:lpstr>
      <vt:lpstr>Prompt Medium</vt:lpstr>
      <vt:lpstr>Sarabun</vt:lpstr>
      <vt:lpstr>TH SarabunPSK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Administrator</dc:creator>
  <cp:keywords/>
  <dc:description>generated using python-pptx</dc:description>
  <cp:lastModifiedBy>พิรัชชัย คนทน</cp:lastModifiedBy>
  <cp:revision>5</cp:revision>
  <dcterms:created xsi:type="dcterms:W3CDTF">2013-01-27T09:14:16Z</dcterms:created>
  <dcterms:modified xsi:type="dcterms:W3CDTF">2026-07-30T05:00:35Z</dcterms:modified>
  <cp:category/>
</cp:coreProperties>
</file>